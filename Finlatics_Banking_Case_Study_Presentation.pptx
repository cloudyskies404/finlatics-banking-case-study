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Banking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Exploratory Data Analysis of a Bank Marketing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Term deposits are an important source of revenue for banks.</a:t>
            </a:r>
          </a:p>
          <a:p>
            <a:pPr>
              <a:spcAft>
                <a:spcPts val="1200"/>
              </a:spcAft>
              <a:defRPr sz="2000"/>
            </a:pPr>
            <a:r>
              <a:t>Telephonic marketing campaigns can be effective, but calling customers is costly.</a:t>
            </a:r>
          </a:p>
          <a:p>
            <a:pPr>
              <a:spcAft>
                <a:spcPts val="1200"/>
              </a:spcAft>
              <a:defRPr sz="2000"/>
            </a:pPr>
            <a:r>
              <a:t>The bank wants to understand customer and campaign characteristics related to term-deposit subscription.</a:t>
            </a:r>
          </a:p>
          <a:p>
            <a:pPr>
              <a:spcAft>
                <a:spcPts val="1200"/>
              </a:spcAft>
              <a:defRPr sz="2000"/>
            </a:pPr>
            <a:r>
              <a:t>This project uses exploratory data analysis to identify useful patterns in the campaign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45,216 customer records and 19 attributes.</a:t>
            </a:r>
          </a:p>
          <a:p>
            <a:pPr>
              <a:spcAft>
                <a:spcPts val="1200"/>
              </a:spcAft>
              <a:defRPr sz="2000"/>
            </a:pPr>
            <a:r>
              <a:t>Contains demographic, financial, contact and campaign-related information.</a:t>
            </a:r>
          </a:p>
          <a:p>
            <a:pPr>
              <a:spcAft>
                <a:spcPts val="1200"/>
              </a:spcAft>
              <a:defRPr sz="2000"/>
            </a:pPr>
            <a:r>
              <a:t>Target variable: y — whether the customer subscribed to a term deposit.</a:t>
            </a:r>
          </a:p>
          <a:p>
            <a:pPr>
              <a:spcAft>
                <a:spcPts val="1200"/>
              </a:spcAft>
              <a:defRPr sz="2000"/>
            </a:pPr>
            <a:r>
              <a:t>39,922 customers did not subscribe (88.3%); 5,294 subscribed (11.7%).</a:t>
            </a:r>
          </a:p>
          <a:p>
            <a:pPr>
              <a:spcAft>
                <a:spcPts val="1200"/>
              </a:spcAft>
              <a:defRPr sz="2000"/>
            </a:pPr>
            <a:r>
              <a:t>A small number of missing values are present in demographic fields.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Customer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Age ranges from 18 to 95 years, with the largest concentration around the mid-30s to early-40s.</a:t>
            </a:r>
          </a:p>
          <a:p>
            <a:pPr>
              <a:spcAft>
                <a:spcPts val="1200"/>
              </a:spcAft>
              <a:defRPr sz="2000"/>
            </a:pPr>
            <a:r>
              <a:t>Blue-collar and management are the largest job categories.</a:t>
            </a:r>
          </a:p>
          <a:p>
            <a:pPr>
              <a:spcAft>
                <a:spcPts val="1200"/>
              </a:spcAft>
              <a:defRPr sz="2000"/>
            </a:pPr>
            <a:r>
              <a:t>Married customers form the largest marital-status group.</a:t>
            </a:r>
          </a:p>
          <a:p>
            <a:pPr>
              <a:spcAft>
                <a:spcPts val="1200"/>
              </a:spcAft>
              <a:defRPr sz="2000"/>
            </a:pPr>
            <a:r>
              <a:t>Secondary education is the most common education level.</a:t>
            </a:r>
          </a:p>
          <a:p>
            <a:pPr>
              <a:spcAft>
                <a:spcPts val="1200"/>
              </a:spcAft>
              <a:defRPr sz="2000"/>
            </a:pPr>
            <a:r>
              <a:t>Very few customers are marked as being in credit default.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Financial &amp; Loan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Average yearly balance is strongly right-skewed.</a:t>
            </a:r>
          </a:p>
          <a:p>
            <a:pPr>
              <a:spcAft>
                <a:spcPts val="1200"/>
              </a:spcAft>
              <a:defRPr sz="2000"/>
            </a:pPr>
            <a:r>
              <a:t>Most customers have relatively low balances, while a small number have very high balances.</a:t>
            </a:r>
          </a:p>
          <a:p>
            <a:pPr>
              <a:spcAft>
                <a:spcPts val="1200"/>
              </a:spcAft>
              <a:defRPr sz="2000"/>
            </a:pPr>
            <a:r>
              <a:t>Housing loans are more common than personal loans.</a:t>
            </a:r>
          </a:p>
          <a:p>
            <a:pPr>
              <a:spcAft>
                <a:spcPts val="1200"/>
              </a:spcAft>
              <a:defRPr sz="2000"/>
            </a:pPr>
            <a:r>
              <a:t>Most customers do not have a personal loan.</a:t>
            </a:r>
          </a:p>
          <a:p>
            <a:pPr>
              <a:spcAft>
                <a:spcPts val="1200"/>
              </a:spcAft>
              <a:defRPr sz="2000"/>
            </a:pPr>
            <a:r>
              <a:t>Extreme balance values should be considered carefully in further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Campaign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Cellular is the most common communication method.</a:t>
            </a:r>
          </a:p>
          <a:p>
            <a:pPr>
              <a:spcAft>
                <a:spcPts val="1200"/>
              </a:spcAft>
              <a:defRPr sz="2000"/>
            </a:pPr>
            <a:r>
              <a:t>Most customers received only a small number of contacts during the current campaign.</a:t>
            </a:r>
          </a:p>
          <a:p>
            <a:pPr>
              <a:spcAft>
                <a:spcPts val="1200"/>
              </a:spcAft>
              <a:defRPr sz="2000"/>
            </a:pPr>
            <a:r>
              <a:t>Most customers were not contacted in a previous campaign; pdays = -1 represents this condition.</a:t>
            </a:r>
          </a:p>
          <a:p>
            <a:pPr>
              <a:spcAft>
                <a:spcPts val="1200"/>
              </a:spcAft>
              <a:defRPr sz="2000"/>
            </a:pPr>
            <a:r>
              <a:t>Most customers had zero previous contacts.</a:t>
            </a:r>
          </a:p>
          <a:p>
            <a:pPr>
              <a:spcAft>
                <a:spcPts val="1200"/>
              </a:spcAft>
              <a:defRPr sz="2000"/>
            </a:pPr>
            <a:r>
              <a:t>Call duration is right-skewed: most calls are short, with a smaller number of very long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Subscription &amp;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Only about 11.7% of customers subscribed to a term deposit, so the target is highly imbalanced.</a:t>
            </a:r>
          </a:p>
          <a:p>
            <a:pPr>
              <a:spcAft>
                <a:spcPts val="1200"/>
              </a:spcAft>
              <a:defRPr sz="2000"/>
            </a:pPr>
            <a:r>
              <a:t>Among the numeric variables, call duration has the strongest positive correlation with subscription (≈ 0.394).</a:t>
            </a:r>
          </a:p>
          <a:p>
            <a:pPr>
              <a:spcAft>
                <a:spcPts val="1200"/>
              </a:spcAft>
              <a:defRPr sz="2000"/>
            </a:pPr>
            <a:r>
              <a:t>Campaign has a weak negative correlation with subscription (≈ -0.073).</a:t>
            </a:r>
          </a:p>
          <a:p>
            <a:pPr>
              <a:spcAft>
                <a:spcPts val="1200"/>
              </a:spcAft>
              <a:defRPr sz="2000"/>
            </a:pPr>
            <a:r>
              <a:t>Correlation shows association, not causation.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Key Findings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dataset is dominated by customers who did not subscribe to a term deposit.</a:t>
            </a:r>
          </a:p>
          <a:p>
            <a:pPr>
              <a:spcAft>
                <a:spcPts val="1200"/>
              </a:spcAft>
              <a:defRPr sz="2000"/>
            </a:pPr>
            <a:r>
              <a:t>Customer demographics and campaign behavior show clear variation across the dataset.</a:t>
            </a:r>
          </a:p>
          <a:p>
            <a:pPr>
              <a:spcAft>
                <a:spcPts val="1200"/>
              </a:spcAft>
              <a:defRPr sz="2000"/>
            </a:pPr>
            <a:r>
              <a:t>Most customers had limited prior campaign contact.</a:t>
            </a:r>
          </a:p>
          <a:p>
            <a:pPr>
              <a:spcAft>
                <a:spcPts val="1200"/>
              </a:spcAft>
              <a:defRPr sz="2000"/>
            </a:pPr>
            <a:r>
              <a:t>Call duration stands out as the strongest numeric association with subscription.</a:t>
            </a:r>
          </a:p>
          <a:p>
            <a:pPr>
              <a:spcAft>
                <a:spcPts val="1200"/>
              </a:spcAft>
              <a:defRPr sz="2000"/>
            </a:pPr>
            <a:r>
              <a:t>These findings provide an exploratory foundation for more advanced predictive modelling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Tools &amp; Techniques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</a:t>
            </a:r>
          </a:p>
          <a:p>
            <a:pPr>
              <a:spcAft>
                <a:spcPts val="1200"/>
              </a:spcAft>
              <a:defRPr sz="2000"/>
            </a:pPr>
            <a:r>
              <a:t>Pandas — data loading, inspection, frequency counts and descriptive statistics</a:t>
            </a:r>
          </a:p>
          <a:p>
            <a:pPr>
              <a:spcAft>
                <a:spcPts val="1200"/>
              </a:spcAft>
              <a:defRPr sz="2000"/>
            </a:pPr>
            <a:r>
              <a:t>Matplotlib — data visualization</a:t>
            </a:r>
          </a:p>
          <a:p>
            <a:pPr>
              <a:spcAft>
                <a:spcPts val="1200"/>
              </a:spcAft>
              <a:defRPr sz="2000"/>
            </a:pPr>
            <a:r>
              <a:t>Exploratory Data Analysis (EDA)</a:t>
            </a:r>
          </a:p>
          <a:p>
            <a:pPr>
              <a:spcAft>
                <a:spcPts val="1200"/>
              </a:spcAft>
              <a:defRPr sz="2000"/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Finlatics Data Science + AI/ML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